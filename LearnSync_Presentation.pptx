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LearnSync_LESSON</a:t>
            </a:r>
          </a:p>
        </p:txBody>
      </p:sp>
      <p:sp>
        <p:nvSpPr>
          <p:cNvPr id="3" name="Subtitle 2"/>
          <p:cNvSpPr>
            <a:spLocks noGrp="1"/>
          </p:cNvSpPr>
          <p:nvPr>
            <p:ph type="subTitle" idx="1"/>
          </p:nvPr>
        </p:nvSpPr>
        <p:spPr/>
        <p:txBody>
          <a:bodyPr/>
          <a:lstStyle/>
          <a:p>
            <a:r>
              <a:t>Generated by LearnSync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Lesson Objectives</a:t>
            </a:r>
          </a:p>
        </p:txBody>
      </p:sp>
      <p:sp>
        <p:nvSpPr>
          <p:cNvPr id="3" name="Content Placeholder 2"/>
          <p:cNvSpPr>
            <a:spLocks noGrp="1"/>
          </p:cNvSpPr>
          <p:nvPr>
            <p:ph idx="1"/>
          </p:nvPr>
        </p:nvSpPr>
        <p:spPr/>
        <p:txBody>
          <a:bodyPr/>
          <a:lstStyle/>
          <a:p>
            <a:r>
              <a:t>Upon completion of this lesson, students will be able to:</a:t>
            </a:r>
          </a:p>
          <a:p>
            <a:r>
              <a:t>*   Define Artificial Intelligence (AI) and articulate its core conceptual underpinnings. 🧠</a:t>
            </a:r>
          </a:p>
          <a:p>
            <a:r>
              <a:t>*   Trace the historical evolution of AI, identifying key milestones, periods of significant advancement, and challenges. 📜</a:t>
            </a:r>
          </a:p>
          <a:p>
            <a:r>
              <a:t>*   Explain the concept of an intelligent agent, detailing its components and operational principles. 🤖</a:t>
            </a:r>
          </a:p>
          <a:p>
            <a:r>
              <a:t>*   Characterize various types of environments in which intelligent agents operate, utilizing relevant descriptive dimensions. 🌍</a:t>
            </a:r>
          </a:p>
          <a:p>
            <a:r>
              <a:t>*   Set up a Python development environment and execute fundamental scripting commands essential for AI programming.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Key Topics</a:t>
            </a:r>
          </a:p>
        </p:txBody>
      </p:sp>
      <p:sp>
        <p:nvSpPr>
          <p:cNvPr id="3" name="Content Placeholder 2"/>
          <p:cNvSpPr>
            <a:spLocks noGrp="1"/>
          </p:cNvSpPr>
          <p:nvPr>
            <p:ph idx="1"/>
          </p:nvPr>
        </p:nvSpPr>
        <p:spPr/>
        <p:txBody>
          <a:bodyPr/>
          <a:lstStyle/>
          <a:p>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History and Evolution of AI 📜🕰️💡</a:t>
            </a:r>
          </a:p>
        </p:txBody>
      </p:sp>
      <p:sp>
        <p:nvSpPr>
          <p:cNvPr id="3" name="Content Placeholder 2"/>
          <p:cNvSpPr>
            <a:spLocks noGrp="1"/>
          </p:cNvSpPr>
          <p:nvPr>
            <p:ph idx="1"/>
          </p:nvPr>
        </p:nvSpPr>
        <p:spPr/>
        <p:txBody>
          <a:bodyPr/>
          <a:lstStyle/>
          <a:p>
            <a:r>
              <a:t>Deep Definition:</a:t>
            </a:r>
          </a:p>
          <a:p>
            <a:r>
              <a:t>Artificial Intelligence (AI) is a multidisciplinary field of computer science dedicated to creating machines capable of performing tasks that typically require human intelligence. The journey of AI spans several decades, evolving from philosophical ponderings about thought and logic to the sophisticated machine learning and deep learning systems of today. Key periods include:</a:t>
            </a:r>
          </a:p>
          <a:p/>
          <a:p>
            <a:r>
              <a:t>*   Early Foundations (Pre-1950s): Ancient myths of intelligent automatons, philosophical discussions on the nature of mind and reasoning, and the formalization of logic and computation through figures like Aristotle, Leibniz, and Babbage. Alan Turing's seminal paper "Computing Machinery and Intelligence" (1950) introduced the Turing Test, a criterion for intelligence, laying a theoretical groundwork. 📝</a:t>
            </a:r>
          </a:p>
          <a:p>
            <a:r>
              <a:t>*   The Birth of AI (1956 Dartmouth Workshop): Coined the term "Artificial Intelligence," this workshop is widely considered the official birth of AI as an academic discipline. Researchers aimed to simulate human intelligence using symbolic reasoning, focusing on problem-solving, theorem proving, and game playing. 🎲</a:t>
            </a:r>
          </a:p>
          <a:p>
            <a:r>
              <a:t>*   Periods of Enthusiasm and "AI Winters" (1960s-1980s): Early successes led to overoptimistic predictions, but limitations in computational power, data availability, and algorithm scalability soon became apparent. This resulted in periods of reduced funding and interest, known as "AI Winters." 📉❄️</a:t>
            </a:r>
          </a:p>
          <a:p>
            <a:r>
              <a:t>*   Expert Systems and Machine Learning Resurgence (1980s-1990s): The development of expert systems, which encoded human knowledge into rule-based programs for specific domains (e.g., medical diagnosis), brought practical applications. Concurrently, machine learning, with its focus on algorithms that learn from data, began to gain traction, moving away from purely symbolic approaches. 📈</a:t>
            </a:r>
          </a:p>
          <a:p>
            <a:r>
              <a:t>*   The Modern Era (2000s-Present): Characterized by explosive growth, fueled by vast datasets ("Big Data"), increased computational power (especially GPUs), and advanced algorithms like deep learning. This era has seen breakthroughs in areas such as image recognition, natural language processing, and autonomous systems, leading to widespread AI adoption. 🚀🌐</a:t>
            </a:r>
          </a:p>
          <a:p/>
          <a:p>
            <a:r>
              <a:t>Real-World Example:</a:t>
            </a:r>
          </a:p>
          <a:p>
            <a:r>
              <a:t>Consider the progression of chess-playing AI. In the late 1950s, early AI programs could play rudimentary chess, often struggling against amateur players. By 1997, IBM's Deep Blue supercomputer famously defeated world chess champion Garry Kasparov, primarily using brute-force search and sophisticated evaluation functions. More recently, in 2017, Google's AlphaGo Zero, a deep learning AI, mastered the complex game of Go by playing against itself, demonstrating a paradigm shift from handcrafted rules to learning from experience and data without human intervention. This evolution showcases AI's transition from rule-based systems to highly adaptive, data-driven learning machines. ♟️🆚🧠</a:t>
            </a:r>
          </a:p>
          <a:p/>
          <a:p>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Understanding Intelligent Agents 🤖🧠</a:t>
            </a:r>
          </a:p>
        </p:txBody>
      </p:sp>
      <p:sp>
        <p:nvSpPr>
          <p:cNvPr id="3" name="Content Placeholder 2"/>
          <p:cNvSpPr>
            <a:spLocks noGrp="1"/>
          </p:cNvSpPr>
          <p:nvPr>
            <p:ph idx="1"/>
          </p:nvPr>
        </p:nvSpPr>
        <p:spPr/>
        <p:txBody>
          <a:bodyPr/>
          <a:lstStyle/>
          <a:p>
            <a:r>
              <a:t>Deep Definition:</a:t>
            </a:r>
          </a:p>
          <a:p>
            <a:r>
              <a:t>An intelligent agent is anything that perceives its environment through sensors and acts upon that environment through effectors. Fundamentally, an agent is an entity that can perform actions to change its state or the state of its environment. The design of an intelligent agent typically involves the following core concepts:</a:t>
            </a:r>
          </a:p>
          <a:p/>
          <a:p>
            <a:r>
              <a:t>*   Perception: The agent's ability to receive input from its environment through sensors. These inputs could be anything from raw pixels in an image to numerical readings from a thermometer. 👁️👂</a:t>
            </a:r>
          </a:p>
          <a:p>
            <a:r>
              <a:t>*   Actuation: The agent's ability to perform actions that affect its environment through effectors. These actions could range from moving a robot arm to displaying information on a screen. 👋⚙️</a:t>
            </a:r>
          </a:p>
          <a:p>
            <a:r>
              <a:t>*   Rationality: A rational agent is one that acts to achieve the best possible outcome, or the best expected outcome, given its perceptions and knowledge. It chooses actions that are expected to maximize its performance measure. Rationality is distinct from omniscience (knowing everything) or prescience (knowing the future); an agent can only act rationally based on the information it has. 🤔</a:t>
            </a:r>
          </a:p>
          <a:p>
            <a:r>
              <a:t>*   Performance Measure (PM): A subjective criterion for evaluating the success of an agent's behavior. It specifies what constitutes desirable behavior in a given environment. A good PM should incentivize the agent to achieve its objectives effectively and efficiently. ✅🎯</a:t>
            </a:r>
          </a:p>
          <a:p>
            <a:r>
              <a:t>*   PEAS Description: A structured approach to defining an agent's characteristics, encompassing its Performance measure, Environment, Actuators, and Sensors. This framework helps in precisely specifying the problem an agent is designed to solve.</a:t>
            </a:r>
          </a:p>
          <a:p/>
          <a:p>
            <a:r>
              <a:t>Types of Agents:</a:t>
            </a:r>
          </a:p>
          <a:p>
            <a:r>
              <a:t>*   Simple Reflex Agents: React directly to current perceptions, ignoring past history. (e.g., a thermostat turning on/off based only on current temperature). 🌡️</a:t>
            </a:r>
          </a:p>
          <a:p>
            <a:r>
              <a:t>*   Model-Based Reflex Agents: Maintain an internal state (a "model" of the world) to deal with partially observable environments, using past perceptions to update this model. (e.g., a self-driving car tracking other vehicles' positions even if they are temporarily out of sight). 🚗</a:t>
            </a:r>
          </a:p>
          <a:p>
            <a:r>
              <a:t>*   Goal-Based Agents: Consider future consequences of actions to achieve specific goals. (e.g., a pathfinding algorithm aiming for a destination). 🗺️</a:t>
            </a:r>
          </a:p>
          <a:p>
            <a:r>
              <a:t>*   Utility-Based Agents: More sophisticated, they aim to maximize their "utility" (a measure of how happy or satisfied they are) by choosing actions that lead to the best overall outcome, especially when goals are complex or conflicting. (e.g., a financial trading agent optimizing for profit while managing risk). 💰</a:t>
            </a:r>
          </a:p>
          <a:p>
            <a:r>
              <a:t>*   Learning Agents: Possess the ability to learn from their experiences and improve their performance over time. This is a crucial aspect of modern AI. (e.g., a recommendation system getting better at suggesting products based on user feedback). 📈📚</a:t>
            </a:r>
          </a:p>
          <a:p/>
          <a:p>
            <a:r>
              <a:t>Real-World Example:</a:t>
            </a:r>
          </a:p>
          <a:p>
            <a:r>
              <a:t>Consider a self-driving car as an intelligent agent.</a:t>
            </a:r>
          </a:p>
          <a:p>
            <a:r>
              <a:t>*   Performance Measure (P): Maximize safety (no accidents, no traffic violations), maximize comfort (smooth ride), minimize travel time, minimize fuel consumption. 🚦🛣️</a:t>
            </a:r>
          </a:p>
          <a:p>
            <a:r>
              <a:t>*   Environment (E): Roads, other vehicles, pedestrians, traffic lights, weather conditions, road signs, buildings. 🌍</a:t>
            </a:r>
          </a:p>
          <a:p>
            <a:r>
              <a:t>*   Actuators (A): Steering wheel, accelerator, brake, turn signal, horn. ⚙️</a:t>
            </a:r>
          </a:p>
          <a:p>
            <a:r>
              <a:t>*   Sensors (S): Cameras (detect objects, lanes, signs), Radar (distance to objects, speed), Lidar (3D mapping), GPS (location), Odometry (wheel speed), Ultrasonic sensors (parking assistance). 📸📡📍</a:t>
            </a:r>
          </a:p>
          <a:p/>
          <a:p>
            <a:r>
              <a:t>The car's "brain" (the agent program) constantly perceives data from these sensors, processes it to understand the current state of the environment, predicts future states, and then actuates the car's controls to drive rationally towards its destination while ensuring safety and efficiency.</a:t>
            </a:r>
          </a:p>
          <a:p/>
          <a:p>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Understanding Environments 🌍🌐</a:t>
            </a:r>
          </a:p>
        </p:txBody>
      </p:sp>
      <p:sp>
        <p:nvSpPr>
          <p:cNvPr id="3" name="Content Placeholder 2"/>
          <p:cNvSpPr>
            <a:spLocks noGrp="1"/>
          </p:cNvSpPr>
          <p:nvPr>
            <p:ph idx="1"/>
          </p:nvPr>
        </p:nvSpPr>
        <p:spPr/>
        <p:txBody>
          <a:bodyPr/>
          <a:lstStyle/>
          <a:p>
            <a:r>
              <a:t>Deep Definition:</a:t>
            </a:r>
          </a:p>
          <a:p>
            <a:r>
              <a:t>The environment refers to the external context in which an intelligent agent operates and interacts. The characteristics of an environment profoundly influence the design and complexity of the agent. Understanding these dimensions is crucial for selecting appropriate AI techniques. Key environmental properties include:</a:t>
            </a:r>
          </a:p>
          <a:p/>
          <a:p>
            <a:r>
              <a:t>*   Fully Observable vs. Partially Observable:</a:t>
            </a:r>
          </a:p>
          <a:p>
            <a:r>
              <a:t>    *   Fully Observable: An agent's sensors give it access to the complete state of the environment at all times. The agent knows everything relevant to its decision-making. (e.g., Chess game board is fully visible). 👀</a:t>
            </a:r>
          </a:p>
          <a:p>
            <a:r>
              <a:t>    *   Partially Observable: An agent cannot perceive the entire state of the environment. This might be due to noisy sensors, sensors that block parts of the environment, or the presence of hidden states. (e.g., A poker game, where opponents' hands are hidden). 🌫️</a:t>
            </a:r>
          </a:p>
          <a:p>
            <a:r>
              <a:t>*   Single Agent vs. Multi-Agent:</a:t>
            </a:r>
          </a:p>
          <a:p>
            <a:r>
              <a:t>    *   Single Agent: Only one agent is performing actions within the environment. 👤</a:t>
            </a:r>
          </a:p>
          <a:p>
            <a:r>
              <a:t>    *   Multi-Agent: Multiple agents interact within the environment. These interactions can be cooperative (agents work together) or competitive (agents have conflicting goals). (e.g., Autonomous vehicles sharing a road are multi-agent, potentially competitive for space but cooperative in avoiding collisions). 👥</a:t>
            </a:r>
          </a:p>
          <a:p>
            <a:r>
              <a:t>*   Deterministic vs. Stochastic:</a:t>
            </a:r>
          </a:p>
          <a:p>
            <a:r>
              <a:t>    *   Deterministic: The next state of the environment is completely determined by the current state and the agent's action. There is no uncertainty. (e.g., Moving a chess piece to a specific square). ✨</a:t>
            </a:r>
          </a:p>
          <a:p>
            <a:r>
              <a:t>    *   Stochastic: The next state of the environment is not fully determined by the current state and action; there is an element of randomness or unpredictability. (e.g., The outcome of a dice roll; traffic flow on a highway). 🎲</a:t>
            </a:r>
          </a:p>
          <a:p>
            <a:r>
              <a:t>*   Episodic vs. Sequential:</a:t>
            </a:r>
          </a:p>
          <a:p>
            <a:r>
              <a:t>    *   Episodic: The agent's experience is divided into discrete, independent "episodes." Each episode consists of a single perception and action, and the next episode does not depend on actions taken in previous ones. (e.g., A robot inspecting parts on an assembly line, where each part is a new, independent task). 🎬</a:t>
            </a:r>
          </a:p>
          <a:p>
            <a:r>
              <a:t>    *   Sequential: The current action can affect future perceptions and actions. Planning and long-term consequences are crucial. Most real-world AI problems are sequential. (e.g., Driving a car, where one turn affects the path for subsequent turns). 🔄</a:t>
            </a:r>
          </a:p>
          <a:p>
            <a:r>
              <a:t>*   Static vs. Dynamic:</a:t>
            </a:r>
          </a:p>
          <a:p>
            <a:r>
              <a:t>    *   Static: The environment does not change while the agent is deliberating. (e.g., Solving a crossword puzzle). 🧊</a:t>
            </a:r>
          </a:p>
          <a:p>
            <a:r>
              <a:t>    *   Dynamic: The environment can change while the agent is deliberating or performing actions. This requires the agent to constantly monitor and adapt. (e.g., A robot navigating a crowded room). 🏃‍♀️</a:t>
            </a:r>
          </a:p>
          <a:p>
            <a:r>
              <a:t>*   Discrete vs. Continuous:</a:t>
            </a:r>
          </a:p>
          <a:p>
            <a:r>
              <a:t>    *   Discrete: The number of distinct states and actions is finite or countable. (e.g., Chess board squares are discrete positions; actions are discrete moves). #️⃣</a:t>
            </a:r>
          </a:p>
          <a:p>
            <a:r>
              <a:t>    *   Continuous: The states and actions can take on a continuous range of values. (e.g., The exact position and velocity of a car are continuous values). 〰️</a:t>
            </a:r>
          </a:p>
          <a:p>
            <a:r>
              <a:t>*   Known vs. Unknown:</a:t>
            </a:r>
          </a:p>
          <a:p>
            <a:r>
              <a:t>    *   Known: The agent has a complete understanding of the rules governing the environment's behavior. (e.g., In tic-tac-toe, the rules are known). ✅</a:t>
            </a:r>
          </a:p>
          <a:p>
            <a:r>
              <a:t>    *   Unknown: The agent must learn how the environment works through experience. (e.g., A robot exploring an unknown planet). ❓</a:t>
            </a:r>
          </a:p>
          <a:p/>
          <a:p>
            <a:r>
              <a:t>Real-World Example:</a:t>
            </a:r>
          </a:p>
          <a:p>
            <a:r>
              <a:t>Let's analyze two contrasting environments:</a:t>
            </a:r>
          </a:p>
          <a:p>
            <a:r>
              <a:t>1.  A robotic vacuum cleaner navigating a house: 🏠🧹</a:t>
            </a:r>
          </a:p>
          <a:p>
            <a:r>
              <a:t>    *   Partially Observable: The vacuum only sees the immediate area around it with its sensors; it doesn't know the entire floor plan unless it has mapped it previously.</a:t>
            </a:r>
          </a:p>
          <a:p>
            <a:r>
              <a:t>    *   Single Agent: Typically operates alone (though multiple vacuums could make it multi-agent).</a:t>
            </a:r>
          </a:p>
          <a:p>
            <a:r>
              <a:t>    *   Stochastic: Dust and debris appear randomly; objects might be moved by humans.</a:t>
            </a:r>
          </a:p>
          <a:p>
            <a:r>
              <a:t>    *   Sequential: Its current cleaning path affects future paths and thoroughness.</a:t>
            </a:r>
          </a:p>
          <a:p>
            <a:r>
              <a:t>    *   Dynamic: Furniture might be moved, people might walk by, dust settles.</a:t>
            </a:r>
          </a:p>
          <a:p>
            <a:r>
              <a:t>    *   Continuous: Its exact position and angle are continuous values.</a:t>
            </a:r>
          </a:p>
          <a:p>
            <a:r>
              <a:t>    *   Unknown (initially): Needs to learn the layout of the house.</a:t>
            </a:r>
          </a:p>
          <a:p/>
          <a:p>
            <a:r>
              <a:t>2.  Playing Sudoku on a mobile app: 📱🔢</a:t>
            </a:r>
          </a:p>
          <a:p>
            <a:r>
              <a:t>    *   Fully Observable: All numbers on the grid are visible.</a:t>
            </a:r>
          </a:p>
          <a:p>
            <a:r>
              <a:t>    *   Single Agent: Only one player.</a:t>
            </a:r>
          </a:p>
          <a:p>
            <a:r>
              <a:t>    *   Deterministic: Placing a number deterministically changes the grid state.</a:t>
            </a:r>
          </a:p>
          <a:p>
            <a:r>
              <a:t>    *   Sequential: Each number placed affects subsequent valid placements.</a:t>
            </a:r>
          </a:p>
          <a:p>
            <a:r>
              <a:t>    *   Static: The puzzle grid does not change while the player is thinking.</a:t>
            </a:r>
          </a:p>
          <a:p>
            <a:r>
              <a:t>    *   Discrete: There are fixed 81 cells and 9 possible numbers for each.</a:t>
            </a:r>
          </a:p>
          <a:p>
            <a:r>
              <a:t>    *   Known: The rules of Sudoku are fully understood.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Interactive Activities</a:t>
            </a:r>
          </a:p>
        </p:txBody>
      </p:sp>
      <p:sp>
        <p:nvSpPr>
          <p:cNvPr id="3" name="Content Placeholder 2"/>
          <p:cNvSpPr>
            <a:spLocks noGrp="1"/>
          </p:cNvSpPr>
          <p:nvPr>
            <p:ph idx="1"/>
          </p:nvPr>
        </p:nvSpPr>
        <p:spPr/>
        <p:txBody>
          <a:bodyPr/>
          <a:lstStyle/>
          <a:p>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1: Python Environment Setup and Basic Scripting** 💻🐍</a:t>
            </a:r>
          </a:p>
        </p:txBody>
      </p:sp>
      <p:sp>
        <p:nvSpPr>
          <p:cNvPr id="3" name="Content Placeholder 2"/>
          <p:cNvSpPr>
            <a:spLocks noGrp="1"/>
          </p:cNvSpPr>
          <p:nvPr>
            <p:ph idx="1"/>
          </p:nvPr>
        </p:nvSpPr>
        <p:spPr/>
        <p:txBody>
          <a:bodyPr/>
          <a:lstStyle/>
          <a:p>
            <a:r>
              <a:t>Objective: To ensure all students have a functional Python development environment and can execute basic Python code, which is fundamental for this course.</a:t>
            </a:r>
          </a:p>
          <a:p/>
          <a:p>
            <a:r>
              <a:t>Instructions:</a:t>
            </a:r>
          </a:p>
          <a:p>
            <a:r>
              <a:t>1.  Python Installation: Students will be guided through installing the latest stable version of Python (preferably Python 3.9+) from `python.org`. Emphasize checking the "Add Python to PATH" option during installation on Windows. 📥</a:t>
            </a:r>
          </a:p>
          <a:p>
            <a:r>
              <a:t>2.  IDE Installation: Recommend and guide students through installing a suitable Integrated Development Environment (IDE). Visual Studio Code (VS Code) with the Python extension is highly recommended due to its versatility and excellent support for AI development. Alternatively, Anaconda distribution (which includes Python and Jupyter Notebook) can be installed for a more comprehensive data science environment. 🚀</a:t>
            </a:r>
          </a:p>
          <a:p>
            <a:r>
              <a:t>3.  Virtual Environments (Optional but Recommended): Briefly introduce the concept and benefits of Python virtual environments to manage project dependencies. Demonstrate how to create and activate a simple virtual environment. `python -m venv ai_env` and `source ai_env/bin/activate` (Linux/macOS) or `ai_env\Scripts\activate` (Windows). 🌐</a:t>
            </a:r>
          </a:p>
          <a:p>
            <a:r>
              <a:t>4.  First Python Script:</a:t>
            </a:r>
          </a:p>
          <a:p>
            <a:r>
              <a:t>    *   Open the chosen IDE.</a:t>
            </a:r>
          </a:p>
          <a:p>
            <a:r>
              <a:t>    *   Create a new Python file (e.g., `hello_ai.py`).</a:t>
            </a:r>
          </a:p>
          <a:p>
            <a:r>
              <a:t>    *   Write and run simple scripts:</a:t>
            </a:r>
          </a:p>
          <a:p>
            <a:r>
              <a:t>        *   `print("Hello, AI World!")` 👋</a:t>
            </a:r>
          </a:p>
          <a:p>
            <a:r>
              <a:t>        *   Variable assignment and basic arithmetic: `x = 10; y = 20; print(x + y)` ➕</a:t>
            </a:r>
          </a:p>
          <a:p>
            <a:r>
              <a:t>        *   Input and output: `name = input("What is your name? "); print(f"Welcome, {name} to AI!")` 🗣️</a:t>
            </a:r>
          </a:p>
          <a:p>
            <a:r>
              <a:t>        *   Simple conditional: `if x &gt; y: print("x is greater") else: print("y is greater")` ❓</a:t>
            </a:r>
          </a:p>
          <a:p>
            <a:r>
              <a:t>    *   Explain how to execute the script from the terminal within the IDE. ▶️</a:t>
            </a:r>
          </a:p>
          <a:p/>
          <a:p>
            <a:r>
              <a:t>Materials: Projector, Instructor's laptop with pre-installed environment, Internet access for student downloads.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Homework / Assignment</a:t>
            </a:r>
          </a:p>
        </p:txBody>
      </p:sp>
      <p:sp>
        <p:nvSpPr>
          <p:cNvPr id="3" name="Content Placeholder 2"/>
          <p:cNvSpPr>
            <a:spLocks noGrp="1"/>
          </p:cNvSpPr>
          <p:nvPr>
            <p:ph idx="1"/>
          </p:nvPr>
        </p:nvSpPr>
        <p:spPr/>
        <p:txBody>
          <a:bodyPr/>
          <a:lstStyle/>
          <a:p>
            <a:r>
              <a:t>1.  AI Milestone Research (100-150 words): Choose one significant AI milestone (e.g., ELIZA, SHRDLU, Deep Blue, Watson, AlphaGo, GPT-3) not explicitly detailed in class. Briefly describe the milestone, its historical context, the AI techniques involved, and its impact on the field of AI. Cite your source(s). 📜🔎</a:t>
            </a:r>
          </a:p>
          <a:p>
            <a:r>
              <a:t>2.  PEAS Description for a Smart Home Device: Select a smart home device (e.g., smart refrigerator, robot lawnmower, smart security camera). Create a detailed PEAS description for it, explicitly listing its Performance Measure, Environment, Actuators, and Sensors. Justify your choices. 🏡💡</a:t>
            </a:r>
          </a:p>
          <a:p>
            <a:r>
              <a:t>3.  Python Scripting Practice: Write a Python script named `agent_properties.py` that: 🐍</a:t>
            </a:r>
          </a:p>
          <a:p>
            <a:r>
              <a:t>    *   Prompts the user to enter the name of an intelligent agent (e.g., "Chess Player", "Self-Driving Car"). 🤖</a:t>
            </a:r>
          </a:p>
          <a:p>
            <a:r>
              <a:t>    *   Asks the user to describe one characteristic of its environment (e.g., "Is it fully observable? (yes/no)").</a:t>
            </a:r>
          </a:p>
          <a:p>
            <a:r>
              <a:t>    *   Prints a summary based on the user's input, along with a creative "AI Fact" related to the agent or environment characteristic.</a:t>
            </a:r>
          </a:p>
          <a:p>
            <a:r>
              <a:t>    *   *Example Output:*</a:t>
            </a:r>
          </a:p>
          <a:p>
            <a:r>
              <a:t>        ```</a:t>
            </a:r>
          </a:p>
          <a:p>
            <a:r>
              <a:t>        Enter agent name: Robot Arm</a:t>
            </a:r>
          </a:p>
          <a:p>
            <a:r>
              <a:t>        Is the environment Static or Dynamic? (Static/Dynamic): Dynamic</a:t>
            </a:r>
          </a:p>
          <a:p>
            <a:r>
              <a:t>        </a:t>
            </a:r>
          </a:p>
          <a:p>
            <a:r>
              <a:t>        Agent: Robot Arm</a:t>
            </a:r>
          </a:p>
          <a:p>
            <a:r>
              <a:t>        Environment Characteristic: Dynamic</a:t>
            </a:r>
          </a:p>
          <a:p>
            <a:r>
              <a:t>        AI Fact: Robot arms often operate in dynamic factory environments, needing advanced sensors to adapt to moving parts and human co-workers!</a:t>
            </a:r>
          </a:p>
          <a:p>
            <a:r>
              <a:t>        ```</a:t>
            </a:r>
          </a:p>
          <a:p>
            <a:r>
              <a:t>    *   Submit the `.py` file.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Quick End-of-Class Quiz</a:t>
            </a:r>
          </a:p>
        </p:txBody>
      </p:sp>
      <p:sp>
        <p:nvSpPr>
          <p:cNvPr id="3" name="Content Placeholder 2"/>
          <p:cNvSpPr>
            <a:spLocks noGrp="1"/>
          </p:cNvSpPr>
          <p:nvPr>
            <p:ph idx="1"/>
          </p:nvPr>
        </p:nvSpPr>
        <p:spPr/>
        <p:txBody>
          <a:bodyPr/>
          <a:lstStyle/>
          <a:p>
            <a:r>
              <a:t>1.  What was the primary focus of AI research during the "AI Winters"?</a:t>
            </a:r>
          </a:p>
          <a:p>
            <a:r>
              <a:t>    a) Deep Learning Architectures</a:t>
            </a:r>
          </a:p>
          <a:p>
            <a:r>
              <a:t>    b) Symbolic Reasoning and Expert Systems</a:t>
            </a:r>
          </a:p>
          <a:p>
            <a:r>
              <a:t>    c) Quantum Computing Applications</a:t>
            </a:r>
          </a:p>
          <a:p>
            <a:r>
              <a:t>    d) Neural Networks ❓</a:t>
            </a:r>
          </a:p>
          <a:p>
            <a:r>
              <a:t>2.  Define "rationality" in the context of an intelligent agent.</a:t>
            </a:r>
          </a:p>
          <a:p>
            <a:r>
              <a:t>    a) An agent that knows everything about its environment.</a:t>
            </a:r>
          </a:p>
          <a:p>
            <a:r>
              <a:t>    b) An agent that always takes the fastest action.</a:t>
            </a:r>
          </a:p>
          <a:p>
            <a:r>
              <a:t>    c) An agent that acts to achieve the best expected outcome based on its perceptions.</a:t>
            </a:r>
          </a:p>
          <a:p>
            <a:r>
              <a:t>    d) An agent that is capable of human-like emotions. 🤔</a:t>
            </a:r>
          </a:p>
          <a:p>
            <a:r>
              <a:t>3.  In a PEAS description, what does the 'A' stand for?</a:t>
            </a:r>
          </a:p>
          <a:p>
            <a:r>
              <a:t>    a) Algorithms</a:t>
            </a:r>
          </a:p>
          <a:p>
            <a:r>
              <a:t>    b) Actions</a:t>
            </a:r>
          </a:p>
          <a:p>
            <a:r>
              <a:t>    c) Actuators</a:t>
            </a:r>
          </a:p>
          <a:p>
            <a:r>
              <a:t>    d) Agents ⚙️</a:t>
            </a:r>
          </a:p>
          <a:p>
            <a:r>
              <a:t>4.  Which type of environment characteristic implies that the agent's current action will affect future perceptions and actions?</a:t>
            </a:r>
          </a:p>
          <a:p>
            <a:r>
              <a:t>    a) Episodic</a:t>
            </a:r>
          </a:p>
          <a:p>
            <a:r>
              <a:t>    b) Static</a:t>
            </a:r>
          </a:p>
          <a:p>
            <a:r>
              <a:t>    c) Stochastic</a:t>
            </a:r>
          </a:p>
          <a:p>
            <a:r>
              <a:t>    d) Sequential 🔄</a:t>
            </a:r>
          </a:p>
          <a:p>
            <a:r>
              <a:t>5.  List two advantages of setting up a Python virtual environment for an AI project.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